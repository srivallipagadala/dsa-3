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61" r:id="rId5"/>
    <p:sldId id="265" r:id="rId6"/>
    <p:sldId id="266" r:id="rId7"/>
    <p:sldId id="260" r:id="rId8"/>
    <p:sldId id="262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D4564A-650B-4135-A391-C744CE594F67}" v="10" dt="2026-09-18T10:07:33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7647A2E-6AB2-6E14-AED4-6B66FA0118B0}"/>
    <pc:docChg chg="modSld">
      <pc:chgData name="Guest User" userId="" providerId="Windows Live" clId="Web-{F7647A2E-6AB2-6E14-AED4-6B66FA0118B0}" dt="2026-08-27T06:37:01.144" v="5" actId="20577"/>
      <pc:docMkLst>
        <pc:docMk/>
      </pc:docMkLst>
      <pc:sldChg chg="modSp">
        <pc:chgData name="Guest User" userId="" providerId="Windows Live" clId="Web-{F7647A2E-6AB2-6E14-AED4-6B66FA0118B0}" dt="2026-08-27T06:37:01.144" v="5" actId="20577"/>
        <pc:sldMkLst>
          <pc:docMk/>
          <pc:sldMk cId="0" sldId="256"/>
        </pc:sldMkLst>
        <pc:spChg chg="mod">
          <ac:chgData name="Guest User" userId="" providerId="Windows Live" clId="Web-{F7647A2E-6AB2-6E14-AED4-6B66FA0118B0}" dt="2026-08-27T06:34:35.732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" providerId="Windows Live" clId="Web-{F7647A2E-6AB2-6E14-AED4-6B66FA0118B0}" dt="2026-08-27T06:37:01.144" v="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Guest User" providerId="Windows Live" clId="Web-{74C5AED9-0E64-AEA8-58F2-DE69938F54BF}"/>
    <pc:docChg chg="modSld">
      <pc:chgData name="Guest User" userId="" providerId="Windows Live" clId="Web-{74C5AED9-0E64-AEA8-58F2-DE69938F54BF}" dt="2026-08-26T09:10:02.747" v="2" actId="1076"/>
      <pc:docMkLst>
        <pc:docMk/>
      </pc:docMkLst>
      <pc:sldChg chg="modSp">
        <pc:chgData name="Guest User" userId="" providerId="Windows Live" clId="Web-{74C5AED9-0E64-AEA8-58F2-DE69938F54BF}" dt="2026-08-26T09:10:02.747" v="2" actId="1076"/>
        <pc:sldMkLst>
          <pc:docMk/>
          <pc:sldMk cId="3441026644" sldId="265"/>
        </pc:sldMkLst>
        <pc:spChg chg="mod">
          <ac:chgData name="Guest User" userId="" providerId="Windows Live" clId="Web-{74C5AED9-0E64-AEA8-58F2-DE69938F54BF}" dt="2026-08-26T09:10:02.747" v="2" actId="1076"/>
          <ac:spMkLst>
            <pc:docMk/>
            <pc:sldMk cId="3441026644" sldId="265"/>
            <ac:spMk id="5" creationId="{A8E14917-8ABA-2BB7-41D6-261CAE533F01}"/>
          </ac:spMkLst>
        </pc:spChg>
      </pc:sldChg>
    </pc:docChg>
  </pc:docChgLst>
  <pc:docChgLst>
    <pc:chgData name="SRIVALLI PAGADALA" userId="43744f9ffd592aab" providerId="LiveId" clId="{43954E09-CCFE-401E-9D27-7CF8127AC4F4}"/>
    <pc:docChg chg="modSld">
      <pc:chgData name="SRIVALLI PAGADALA" userId="43744f9ffd592aab" providerId="LiveId" clId="{43954E09-CCFE-401E-9D27-7CF8127AC4F4}" dt="2026-09-18T10:07:33.889" v="11" actId="20577"/>
      <pc:docMkLst>
        <pc:docMk/>
      </pc:docMkLst>
      <pc:sldChg chg="modSp mod">
        <pc:chgData name="SRIVALLI PAGADALA" userId="43744f9ffd592aab" providerId="LiveId" clId="{43954E09-CCFE-401E-9D27-7CF8127AC4F4}" dt="2026-09-18T10:07:33.889" v="11" actId="20577"/>
        <pc:sldMkLst>
          <pc:docMk/>
          <pc:sldMk cId="0" sldId="256"/>
        </pc:sldMkLst>
        <pc:spChg chg="mod">
          <ac:chgData name="SRIVALLI PAGADALA" userId="43744f9ffd592aab" providerId="LiveId" clId="{43954E09-CCFE-401E-9D27-7CF8127AC4F4}" dt="2026-09-18T10:07:33.889" v="1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RIVALLI PAGADALA" userId="43744f9ffd592aab" providerId="LiveId" clId="{43954E09-CCFE-401E-9D27-7CF8127AC4F4}" dt="2026-08-26T09:23:48.744" v="1" actId="14100"/>
        <pc:sldMkLst>
          <pc:docMk/>
          <pc:sldMk cId="1672422596" sldId="264"/>
        </pc:sldMkLst>
        <pc:spChg chg="mod">
          <ac:chgData name="SRIVALLI PAGADALA" userId="43744f9ffd592aab" providerId="LiveId" clId="{43954E09-CCFE-401E-9D27-7CF8127AC4F4}" dt="2026-08-26T09:23:48.744" v="1" actId="14100"/>
          <ac:spMkLst>
            <pc:docMk/>
            <pc:sldMk cId="1672422596" sldId="264"/>
            <ac:spMk id="7" creationId="{F584D83C-7CC0-7726-8A7D-D593E1F90429}"/>
          </ac:spMkLst>
        </pc:spChg>
      </pc:sldChg>
    </pc:docChg>
  </pc:docChgLst>
  <pc:docChgLst>
    <pc:chgData name="Guest User" providerId="Windows Live" clId="Web-{67AE5D6D-29C9-63D7-5953-6931C52CEA77}"/>
    <pc:docChg chg="modSld">
      <pc:chgData name="Guest User" userId="" providerId="Windows Live" clId="Web-{67AE5D6D-29C9-63D7-5953-6931C52CEA77}" dt="2026-08-26T09:09:17.517" v="3" actId="20577"/>
      <pc:docMkLst>
        <pc:docMk/>
      </pc:docMkLst>
      <pc:sldChg chg="modSp">
        <pc:chgData name="Guest User" userId="" providerId="Windows Live" clId="Web-{67AE5D6D-29C9-63D7-5953-6931C52CEA77}" dt="2026-08-26T09:09:17.517" v="3" actId="20577"/>
        <pc:sldMkLst>
          <pc:docMk/>
          <pc:sldMk cId="2292750904" sldId="266"/>
        </pc:sldMkLst>
        <pc:spChg chg="mod">
          <ac:chgData name="Guest User" userId="" providerId="Windows Live" clId="Web-{67AE5D6D-29C9-63D7-5953-6931C52CEA77}" dt="2026-08-26T09:09:17.517" v="3" actId="20577"/>
          <ac:spMkLst>
            <pc:docMk/>
            <pc:sldMk cId="2292750904" sldId="266"/>
            <ac:spMk id="5" creationId="{5510610A-B57C-3BFF-9B3F-7552DEFE4D3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5068" y="917340"/>
            <a:ext cx="9144000" cy="2316702"/>
          </a:xfrm>
        </p:spPr>
        <p:txBody>
          <a:bodyPr/>
          <a:lstStyle/>
          <a:p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b="1">
                <a:solidFill>
                  <a:srgbClr val="C00000"/>
                </a:solidFill>
                <a:latin typeface="+mn-lt"/>
              </a:rPr>
            </a:br>
            <a:br>
              <a:rPr lang="en-US" sz="4000" b="1">
                <a:solidFill>
                  <a:srgbClr val="C00000"/>
                </a:solidFill>
                <a:latin typeface="+mn-lt"/>
              </a:rPr>
            </a:br>
            <a:r>
              <a:rPr lang="en-US" sz="4000" b="1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>
                <a:solidFill>
                  <a:srgbClr val="C00000"/>
                </a:solidFill>
                <a:latin typeface="+mn-lt"/>
              </a:rPr>
            </a:br>
            <a:br>
              <a:rPr lang="en-US" sz="4000" b="1">
                <a:solidFill>
                  <a:srgbClr val="C00000"/>
                </a:solidFill>
                <a:latin typeface="+mn-lt"/>
              </a:rPr>
            </a:br>
            <a:r>
              <a:rPr lang="en-IN" sz="4000"/>
              <a:t>Threat-Intelligence Kill-Chain Correlation Engine</a:t>
            </a:r>
            <a:endParaRPr lang="en-US" sz="4000" b="1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508" y="3237436"/>
            <a:ext cx="4126731" cy="1748941"/>
          </a:xfrm>
        </p:spPr>
        <p:txBody>
          <a:bodyPr lIns="91440" tIns="45720" rIns="91440" bIns="45720" anchor="t"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SRIVALLI:2520090040</a:t>
            </a:r>
          </a:p>
          <a:p>
            <a:r>
              <a:rPr lang="en-US" dirty="0">
                <a:solidFill>
                  <a:srgbClr val="0070C0"/>
                </a:solidFill>
              </a:rPr>
              <a:t>PAVANI:25200090041</a:t>
            </a:r>
          </a:p>
          <a:p>
            <a:r>
              <a:rPr lang="en-US" dirty="0">
                <a:solidFill>
                  <a:srgbClr val="0070C0"/>
                </a:solidFill>
              </a:rPr>
              <a:t>A. KAVYA SREE:2520090143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 err="1">
                <a:solidFill>
                  <a:srgbClr val="000000"/>
                </a:solidFill>
                <a:effectLst/>
                <a:latin typeface="Times New Roman"/>
                <a:ea typeface="Times New Roman" panose="02020603050405020304" pitchFamily="18" charset="0"/>
                <a:cs typeface="Gautami"/>
              </a:rPr>
              <a:t>MS.</a:t>
            </a:r>
            <a:r>
              <a:rPr lang="en-US" sz="1800" b="1" kern="0" dirty="0" err="1">
                <a:solidFill>
                  <a:srgbClr val="000000"/>
                </a:solidFill>
                <a:latin typeface="Times New Roman"/>
                <a:ea typeface="Times New Roman" panose="02020603050405020304" pitchFamily="18" charset="0"/>
                <a:cs typeface="Gautami"/>
              </a:rPr>
              <a:t>Dr</a:t>
            </a:r>
            <a:r>
              <a:rPr lang="en-US" sz="1800" b="1" kern="0" dirty="0">
                <a:solidFill>
                  <a:srgbClr val="000000"/>
                </a:solidFill>
                <a:latin typeface="Times New Roman"/>
                <a:ea typeface="Times New Roman" panose="02020603050405020304" pitchFamily="18" charset="0"/>
                <a:cs typeface="Gautami"/>
              </a:rPr>
              <a:t>. DYUTI BANERJEE</a:t>
            </a:r>
            <a:endParaRPr lang="en-US" sz="1800" b="1" kern="0" dirty="0">
              <a:solidFill>
                <a:srgbClr val="000000"/>
              </a:solidFill>
              <a:effectLst/>
              <a:latin typeface="Times New Roman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ASSISTANT PROFESSOR,AI&amp;DS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4D83C-7CC0-7726-8A7D-D593E1F90429}"/>
              </a:ext>
            </a:extLst>
          </p:cNvPr>
          <p:cNvSpPr txBox="1"/>
          <p:nvPr/>
        </p:nvSpPr>
        <p:spPr>
          <a:xfrm>
            <a:off x="2837400" y="1068601"/>
            <a:ext cx="8251331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A cybersecurity analytics system that combines threat intelligence with the Cyber Kill Chain framework to detect and analyze cyber attacks.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Uses data structures and algorithms to efficiently process large volumes of security events and identify relationships between attack indicators.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Collects and correlates security logs, alerts, and threat intelligence feeds to determine attack progression across kill-chain stages.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Uses graph-based analysis, hashing techniques, and priority-based processing to improve correlation accuracy and reduce response time.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Provides real-time visualization of attack paths and highlights critical threats to support informed decisions.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Automates threat correlation and attack tracking, enhancing situational awareness and reducing false positives.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Enables proactive defense against advanced cyber threats.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Demonstrates the practical application of DSA concepts in solving real-world cybersecurity challenges.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1C2C2-A13A-E817-9557-A37641C54390}"/>
              </a:ext>
            </a:extLst>
          </p:cNvPr>
          <p:cNvSpPr txBox="1"/>
          <p:nvPr/>
        </p:nvSpPr>
        <p:spPr>
          <a:xfrm>
            <a:off x="2837400" y="1068601"/>
            <a:ext cx="8251331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Rapid growth of cyber threats makes it challenging for organizations to identify, analyze, and respond to security incidents in real time.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Traditional security systems generate large volumes of alerts, making it difficult to find the actual attack path and prioritize responses.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A Data Structures and Algorithms (DSA) based project that correlates security events with threat intelligence using the Cyber Kill Chain model.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Collects and organizes threat data from sources such as intrusion detection systems, firewalls, and threat intelligence feeds.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Uses graphs, hash tables, and priority queues to map attack indicators to kill-chain stages: reconnaissance, weaponization, delivery, exploitation, installation, command and control, and actions on objectives.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Algorithms analyze relationships between events, detect attack patterns, and give a clear view of the attack lifecycle.</a:t>
            </a:r>
          </a:p>
          <a:p>
            <a:pPr marL="342900" lvl="0" indent="-342900">
              <a:lnSpc>
                <a:spcPct val="11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IN" sz="1800"/>
              <a:t>Helps analysts identify threats faster, improve incident response, and strengthen overall network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9EB5D-46B0-5329-AD67-7ED1EF94EF05}"/>
              </a:ext>
            </a:extLst>
          </p:cNvPr>
          <p:cNvSpPr txBox="1"/>
          <p:nvPr/>
        </p:nvSpPr>
        <p:spPr>
          <a:xfrm>
            <a:off x="2837400" y="1068601"/>
            <a:ext cx="8251331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Several studies focus on threat intelligence and attack correlation techniques to improve cybersecurity defenses.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Traditional intrusion detection systems detect suspicious activities but generate many alerts without attack context.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The Cyber Kill Chain framework was proposed to understand attacker behavior through different stages of an attack.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Threat intelligence platforms enable organizations to collect and analyze threat data from multiple sources.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Graph-based correlation and machine learning have improved the identification of complex attack patterns.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/>
              <a:t>Many existing systems lack efficient event correlation and real-time attack tracking, creating a need for an intelligent kill-chain correlation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14917-8ABA-2BB7-41D6-261CAE533F01}"/>
              </a:ext>
            </a:extLst>
          </p:cNvPr>
          <p:cNvSpPr txBox="1"/>
          <p:nvPr/>
        </p:nvSpPr>
        <p:spPr>
          <a:xfrm>
            <a:off x="2837400" y="1068601"/>
            <a:ext cx="8251331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/>
              <a:t>Problem Statement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Organizations struggle to identify the complete lifecycle of cyber attacks due to fragmented security alerts and large volumes of threat data.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Existing systems often fail to correlate events effectively, resulting in delayed detection and response.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800" b="1"/>
              <a:t>Objectives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To collect and analyze security events from multiple sources.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To map attack indicators to Cyber Kill Chain stages.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To correlate related events using efficient DSA techniques.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To visualize attack progression and threat relationships.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800"/>
              <a:t>To improve threat detection accuracy and incident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0610A-B57C-3BFF-9B3F-7552DEFE4D3B}"/>
              </a:ext>
            </a:extLst>
          </p:cNvPr>
          <p:cNvSpPr txBox="1"/>
          <p:nvPr/>
        </p:nvSpPr>
        <p:spPr>
          <a:xfrm>
            <a:off x="4323695" y="1018647"/>
            <a:ext cx="6096000" cy="54508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/>
              <a:t>Hardware Requirements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IN"/>
              <a:t>Processor: Intel Core i3/i5 or above</a:t>
            </a:r>
          </a:p>
          <a:p>
            <a:pPr>
              <a:lnSpc>
                <a:spcPct val="150000"/>
              </a:lnSpc>
            </a:pPr>
            <a:r>
              <a:rPr lang="en-IN"/>
              <a:t>RAM: 4 GB minimum (8 GB recommended)</a:t>
            </a:r>
          </a:p>
          <a:p>
            <a:pPr>
              <a:lnSpc>
                <a:spcPct val="150000"/>
              </a:lnSpc>
            </a:pPr>
            <a:r>
              <a:rPr lang="en-IN"/>
              <a:t>Storage: 100 GB free disk space</a:t>
            </a:r>
          </a:p>
          <a:p>
            <a:pPr>
              <a:lnSpc>
                <a:spcPct val="150000"/>
              </a:lnSpc>
            </a:pPr>
            <a:r>
              <a:rPr lang="en-IN"/>
              <a:t>Network Connectivity</a:t>
            </a:r>
          </a:p>
          <a:p>
            <a:pPr>
              <a:lnSpc>
                <a:spcPct val="150000"/>
              </a:lnSpc>
            </a:pPr>
            <a:r>
              <a:rPr lang="en-IN" sz="1800" b="1"/>
              <a:t>Software Requirements</a:t>
            </a:r>
            <a:endParaRPr lang="en-US"/>
          </a:p>
          <a:p>
            <a:pPr lvl="0">
              <a:lnSpc>
                <a:spcPct val="150000"/>
              </a:lnSpc>
            </a:pPr>
            <a:r>
              <a:rPr lang="en-IN" sz="1800"/>
              <a:t>Operating System: Windows/Linux</a:t>
            </a:r>
          </a:p>
          <a:p>
            <a:pPr lvl="0">
              <a:lnSpc>
                <a:spcPct val="150000"/>
              </a:lnSpc>
            </a:pPr>
            <a:r>
              <a:rPr lang="en-IN" sz="1800"/>
              <a:t>Programming Language: Python</a:t>
            </a:r>
          </a:p>
          <a:p>
            <a:pPr lvl="0">
              <a:lnSpc>
                <a:spcPct val="150000"/>
              </a:lnSpc>
            </a:pPr>
            <a:r>
              <a:rPr lang="en-IN" sz="1800"/>
              <a:t>Database: MongoDB / MySQL</a:t>
            </a:r>
          </a:p>
          <a:p>
            <a:pPr lvl="0">
              <a:lnSpc>
                <a:spcPct val="150000"/>
              </a:lnSpc>
            </a:pPr>
            <a:r>
              <a:rPr lang="en-IN" sz="1800"/>
              <a:t>Libraries: </a:t>
            </a:r>
            <a:r>
              <a:rPr lang="en-IN" sz="1800" err="1"/>
              <a:t>NetworkX</a:t>
            </a:r>
            <a:r>
              <a:rPr lang="en-IN" sz="1800"/>
              <a:t>, Pandas, NumPy</a:t>
            </a:r>
          </a:p>
          <a:p>
            <a:pPr lvl="0">
              <a:lnSpc>
                <a:spcPct val="150000"/>
              </a:lnSpc>
            </a:pPr>
            <a:r>
              <a:rPr lang="en-IN" sz="1800"/>
              <a:t>IDE: VS Code / PyCharm</a:t>
            </a:r>
          </a:p>
          <a:p>
            <a:pPr lvl="0">
              <a:lnSpc>
                <a:spcPct val="150000"/>
              </a:lnSpc>
            </a:pPr>
            <a:r>
              <a:rPr lang="en-IN" sz="1800"/>
              <a:t>Visualization Tools: Matplotlib, </a:t>
            </a:r>
            <a:r>
              <a:rPr lang="en-IN" sz="1800" err="1"/>
              <a:t>Plotly</a:t>
            </a:r>
            <a:endParaRPr lang="en-IN" sz="1800"/>
          </a:p>
          <a:p>
            <a:pPr>
              <a:lnSpc>
                <a:spcPct val="150000"/>
              </a:lnSpc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69979-A937-CDFE-F901-32FB01C7E404}"/>
              </a:ext>
            </a:extLst>
          </p:cNvPr>
          <p:cNvSpPr txBox="1"/>
          <p:nvPr/>
        </p:nvSpPr>
        <p:spPr>
          <a:xfrm>
            <a:off x="2837400" y="1068601"/>
            <a:ext cx="8251331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/>
              <a:t>Provides an effective solution for analyzing and correlating cyber threat data.</a:t>
            </a:r>
          </a:p>
          <a:p>
            <a:pPr marL="342900" lvl="0" indent="-3429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/>
              <a:t>Combines threat intelligence with the Cyber Kill Chain framework to help analysts understand attack behavior and respond quickly to threats.</a:t>
            </a:r>
          </a:p>
          <a:p>
            <a:pPr marL="342900" lvl="0" indent="-3429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/>
              <a:t>Use of data structures and algorithms improves processing efficiency and enables real-time threat analysis.</a:t>
            </a:r>
          </a:p>
          <a:p>
            <a:pPr marL="342900" lvl="0" indent="-3429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800"/>
              <a:t>Contributes to stronger cybersecurity monitoring and incident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07E80-EB18-0133-405C-132C936A76B0}"/>
              </a:ext>
            </a:extLst>
          </p:cNvPr>
          <p:cNvSpPr txBox="1"/>
          <p:nvPr/>
        </p:nvSpPr>
        <p:spPr>
          <a:xfrm>
            <a:off x="3898232" y="1409446"/>
            <a:ext cx="6096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Integration with AI and Machine Learning for predictive threat detection.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Real-time threat intelligence feed integration.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Cloud-based deployment for large-scale environments.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Automated incident response and mitigation mechanisms.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Advanced visualization dashboards for security analysts.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/>
              <a:t>Support for emerging cyber threat frameworks and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       Data Structures and Algorithms -3 (25CS2103E)  Threat-Intelligence Kill-Chain Correlation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SRIVALLI PAGADALA</cp:lastModifiedBy>
  <cp:revision>6</cp:revision>
  <dcterms:created xsi:type="dcterms:W3CDTF">2024-08-29T05:25:00Z</dcterms:created>
  <dcterms:modified xsi:type="dcterms:W3CDTF">2026-09-18T10:12:29Z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